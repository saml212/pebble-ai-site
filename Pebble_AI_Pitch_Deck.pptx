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5A52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6B5A52"/>
                </a:solidFill>
                <a:latin typeface="Calibri"/>
              </a:rPr>
              <a:t>Output tokens / query  ·  frontier reasoning model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tokens / query (frontier reasoning model)</c:v>
                </c:pt>
              </c:strCache>
            </c:strRef>
          </c:tx>
          <c:spPr>
            <a:solidFill>
              <a:srgbClr val="8B2E1F"/>
            </a:solidFill>
            <a:ln w="38100" cap="flat">
              <a:solidFill>
                <a:srgbClr val="8B2E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F1A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8B2E1F"/>
              </a:solidFill>
              <a:ln w="25400" cap="flat">
                <a:solidFill>
                  <a:srgbClr val="8B2E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 · GPT-4</c:v>
                  </c:pt>
                  <c:pt idx="1">
                    <c:v>2024 · o1-preview</c:v>
                  </c:pt>
                  <c:pt idx="2">
                    <c:v>2025 · DeepSeek-R1</c:v>
                  </c:pt>
                  <c:pt idx="3">
                    <c:v>2026 · o3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</c:v>
                </c:pt>
                <c:pt idx="1">
                  <c:v>5000</c:v>
                </c:pt>
                <c:pt idx="2">
                  <c:v>8000</c:v>
                </c:pt>
                <c:pt idx="3">
                  <c:v>20000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F1A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0"/>
          <c:min val="0"/>
        </c:scaling>
        <c:delete val="0"/>
        <c:axPos val="l"/>
        <c:majorGridlines>
          <c:spPr>
            <a:ln w="6350" cap="flat">
              <a:solidFill>
                <a:srgbClr val="E5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CDBFAE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5A52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6B5A52"/>
                </a:solidFill>
                <a:latin typeface="Calibri"/>
              </a:rPr>
              <a:t>Thousands of parameters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Params (thousands)</c:v>
                </c:pt>
              </c:strCache>
            </c:strRef>
          </c:tx>
          <c:spPr>
            <a:solidFill>
              <a:srgbClr val="8B2E1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F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Matrix layer (d=16)</c:v>
                  </c:pt>
                  <c:pt idx="1">
                    <c:v>Attention layer (d=256)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262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B1F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6350" cap="flat">
              <a:solidFill>
                <a:srgbClr val="E5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CDBFAE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5A52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6B5A52"/>
                </a:solidFill>
                <a:latin typeface="Calibri"/>
              </a:rPr>
              <a:t>ProsQA accuracy (%)  ·  error ±1.2pp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6B5A52">
                <a:alpha val="9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F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5A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2E1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Vanilla SFT</c:v>
                  </c:pt>
                  <c:pt idx="1">
                    <c:v>Matrix d=32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81.77</c:v>
                </c:pt>
                <c:pt idx="1">
                  <c:v>82.03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B1F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78"/>
        </c:scaling>
        <c:delete val="0"/>
        <c:axPos val="l"/>
        <c:majorGridlines>
          <c:spPr>
            <a:ln w="6350" cap="flat">
              <a:solidFill>
                <a:srgbClr val="E5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CDBFAE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5A52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6B5A52"/>
                </a:solidFill>
                <a:latin typeface="Calibri"/>
              </a:rPr>
              <a:t>Rank-k truncation accuracy  ·  four variations + first positive control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 GSM8K γ=1 thinking-on  (r=-0.02, p=.52)</c:v>
                </c:pt>
              </c:strCache>
            </c:strRef>
          </c:tx>
          <c:spPr>
            <a:solidFill>
              <a:srgbClr val="8B2E1F"/>
            </a:solidFill>
            <a:ln w="25400" cap="flat">
              <a:solidFill>
                <a:srgbClr val="8B2E1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2E1F"/>
              </a:solidFill>
              <a:ln w="9525" cap="flat">
                <a:solidFill>
                  <a:srgbClr val="8B2E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k=1</c:v>
                  </c:pt>
                  <c:pt idx="1">
                    <c:v>k=2</c:v>
                  </c:pt>
                  <c:pt idx="2">
                    <c:v>k=4</c:v>
                  </c:pt>
                  <c:pt idx="3">
                    <c:v>k=6</c:v>
                  </c:pt>
                  <c:pt idx="4">
                    <c:v>k=8</c:v>
                  </c:pt>
                  <c:pt idx="5">
                    <c:v>k=10</c:v>
                  </c:pt>
                  <c:pt idx="6">
                    <c:v>k=12</c:v>
                  </c:pt>
                  <c:pt idx="7">
                    <c:v>k=14</c:v>
                  </c:pt>
                  <c:pt idx="8">
                    <c:v>k=16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81.62</c:v>
                </c:pt>
                <c:pt idx="1">
                  <c:v>81.44</c:v>
                </c:pt>
                <c:pt idx="2">
                  <c:v>80.87</c:v>
                </c:pt>
                <c:pt idx="3">
                  <c:v>81.61</c:v>
                </c:pt>
                <c:pt idx="4">
                  <c:v>80.87</c:v>
                </c:pt>
                <c:pt idx="5">
                  <c:v>81.36</c:v>
                </c:pt>
                <c:pt idx="6">
                  <c:v>81.22</c:v>
                </c:pt>
                <c:pt idx="7">
                  <c:v>80.93</c:v>
                </c:pt>
                <c:pt idx="8">
                  <c:v>81.53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 ProsQA γ=1 thinking-on  (r=+0.03, p=.56)</c:v>
                </c:pt>
              </c:strCache>
            </c:strRef>
          </c:tx>
          <c:spPr>
            <a:solidFill>
              <a:srgbClr val="5C1B13"/>
            </a:solidFill>
            <a:ln w="25400" cap="flat">
              <a:solidFill>
                <a:srgbClr val="5C1B13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1B13"/>
              </a:solidFill>
              <a:ln w="9525" cap="flat">
                <a:solidFill>
                  <a:srgbClr val="5C1B1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k=1</c:v>
                  </c:pt>
                  <c:pt idx="1">
                    <c:v>k=2</c:v>
                  </c:pt>
                  <c:pt idx="2">
                    <c:v>k=4</c:v>
                  </c:pt>
                  <c:pt idx="3">
                    <c:v>k=6</c:v>
                  </c:pt>
                  <c:pt idx="4">
                    <c:v>k=8</c:v>
                  </c:pt>
                  <c:pt idx="5">
                    <c:v>k=10</c:v>
                  </c:pt>
                  <c:pt idx="6">
                    <c:v>k=12</c:v>
                  </c:pt>
                  <c:pt idx="7">
                    <c:v>k=14</c:v>
                  </c:pt>
                  <c:pt idx="8">
                    <c:v>k=16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81.9</c:v>
                </c:pt>
                <c:pt idx="1">
                  <c:v>81.22</c:v>
                </c:pt>
                <c:pt idx="2">
                  <c:v>81.92</c:v>
                </c:pt>
                <c:pt idx="3">
                  <c:v>81.6</c:v>
                </c:pt>
                <c:pt idx="4">
                  <c:v>81.24</c:v>
                </c:pt>
                <c:pt idx="5">
                  <c:v>81.95</c:v>
                </c:pt>
                <c:pt idx="6">
                  <c:v>81.65</c:v>
                </c:pt>
                <c:pt idx="7">
                  <c:v>81.27</c:v>
                </c:pt>
                <c:pt idx="8">
                  <c:v>81.98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R3a ProsQA γ=0 thinking-on  (r=-0.11, p=.02)</c:v>
                </c:pt>
              </c:strCache>
            </c:strRef>
          </c:tx>
          <c:spPr>
            <a:solidFill>
              <a:srgbClr val="B8894A"/>
            </a:solidFill>
            <a:ln w="25400" cap="flat">
              <a:solidFill>
                <a:srgbClr val="B8894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894A"/>
              </a:solidFill>
              <a:ln w="9525" cap="flat">
                <a:solidFill>
                  <a:srgbClr val="B889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k=1</c:v>
                  </c:pt>
                  <c:pt idx="1">
                    <c:v>k=2</c:v>
                  </c:pt>
                  <c:pt idx="2">
                    <c:v>k=4</c:v>
                  </c:pt>
                  <c:pt idx="3">
                    <c:v>k=6</c:v>
                  </c:pt>
                  <c:pt idx="4">
                    <c:v>k=8</c:v>
                  </c:pt>
                  <c:pt idx="5">
                    <c:v>k=10</c:v>
                  </c:pt>
                  <c:pt idx="6">
                    <c:v>k=12</c:v>
                  </c:pt>
                  <c:pt idx="7">
                    <c:v>k=14</c:v>
                  </c:pt>
                  <c:pt idx="8">
                    <c:v>k=16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81.42</c:v>
                </c:pt>
                <c:pt idx="1">
                  <c:v>80.91</c:v>
                </c:pt>
                <c:pt idx="2">
                  <c:v>81.17</c:v>
                </c:pt>
                <c:pt idx="3">
                  <c:v>80.66</c:v>
                </c:pt>
                <c:pt idx="4">
                  <c:v>81.24</c:v>
                </c:pt>
                <c:pt idx="5">
                  <c:v>80.48</c:v>
                </c:pt>
                <c:pt idx="6">
                  <c:v>81.23</c:v>
                </c:pt>
                <c:pt idx="7">
                  <c:v>80.4</c:v>
                </c:pt>
                <c:pt idx="8">
                  <c:v>81.11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R3b ProsQA γ=0 thinking-off  (r=+0.10, p=.03)</c:v>
                </c:pt>
              </c:strCache>
            </c:strRef>
          </c:tx>
          <c:spPr>
            <a:solidFill>
              <a:srgbClr val="6B7D5A"/>
            </a:solidFill>
            <a:ln w="25400" cap="flat">
              <a:solidFill>
                <a:srgbClr val="6B7D5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D5A"/>
              </a:solidFill>
              <a:ln w="9525" cap="flat">
                <a:solidFill>
                  <a:srgbClr val="6B7D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k=1</c:v>
                  </c:pt>
                  <c:pt idx="1">
                    <c:v>k=2</c:v>
                  </c:pt>
                  <c:pt idx="2">
                    <c:v>k=4</c:v>
                  </c:pt>
                  <c:pt idx="3">
                    <c:v>k=6</c:v>
                  </c:pt>
                  <c:pt idx="4">
                    <c:v>k=8</c:v>
                  </c:pt>
                  <c:pt idx="5">
                    <c:v>k=10</c:v>
                  </c:pt>
                  <c:pt idx="6">
                    <c:v>k=12</c:v>
                  </c:pt>
                  <c:pt idx="7">
                    <c:v>k=14</c:v>
                  </c:pt>
                  <c:pt idx="8">
                    <c:v>k=16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81.22</c:v>
                </c:pt>
                <c:pt idx="1">
                  <c:v>81.31</c:v>
                </c:pt>
                <c:pt idx="2">
                  <c:v>80.77</c:v>
                </c:pt>
                <c:pt idx="3">
                  <c:v>80.66</c:v>
                </c:pt>
                <c:pt idx="4">
                  <c:v>81.32</c:v>
                </c:pt>
                <c:pt idx="5">
                  <c:v>81.19</c:v>
                </c:pt>
                <c:pt idx="6">
                  <c:v>80.66</c:v>
                </c:pt>
                <c:pt idx="7">
                  <c:v>81.1</c:v>
                </c:pt>
                <c:pt idx="8">
                  <c:v>81.5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Control · bilinear+GELU (n=1, r=-0.13, p=.14)</c:v>
                </c:pt>
              </c:strCache>
            </c:strRef>
          </c:tx>
          <c:spPr>
            <a:solidFill>
              <a:srgbClr val="6B5A52"/>
            </a:solidFill>
            <a:ln w="25400" cap="flat">
              <a:solidFill>
                <a:srgbClr val="6B5A52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5A52"/>
              </a:solidFill>
              <a:ln w="9525" cap="flat">
                <a:solidFill>
                  <a:srgbClr val="6B5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k=1</c:v>
                  </c:pt>
                  <c:pt idx="1">
                    <c:v>k=2</c:v>
                  </c:pt>
                  <c:pt idx="2">
                    <c:v>k=4</c:v>
                  </c:pt>
                  <c:pt idx="3">
                    <c:v>k=6</c:v>
                  </c:pt>
                  <c:pt idx="4">
                    <c:v>k=8</c:v>
                  </c:pt>
                  <c:pt idx="5">
                    <c:v>k=10</c:v>
                  </c:pt>
                  <c:pt idx="6">
                    <c:v>k=12</c:v>
                  </c:pt>
                  <c:pt idx="7">
                    <c:v>k=14</c:v>
                  </c:pt>
                  <c:pt idx="8">
                    <c:v>k=16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81.02</c:v>
                </c:pt>
                <c:pt idx="1">
                  <c:v>80.52</c:v>
                </c:pt>
                <c:pt idx="2">
                  <c:v>80.4</c:v>
                </c:pt>
                <c:pt idx="3">
                  <c:v>80.56</c:v>
                </c:pt>
                <c:pt idx="4">
                  <c:v>80.85</c:v>
                </c:pt>
                <c:pt idx="5">
                  <c:v>81.04</c:v>
                </c:pt>
                <c:pt idx="6">
                  <c:v>80.95</c:v>
                </c:pt>
                <c:pt idx="7">
                  <c:v>80.61</c:v>
                </c:pt>
                <c:pt idx="8">
                  <c:v>80.24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"/>
          <c:min val="76"/>
        </c:scaling>
        <c:delete val="0"/>
        <c:axPos val="l"/>
        <c:majorGridlines>
          <c:spPr>
            <a:ln w="6350" cap="flat">
              <a:solidFill>
                <a:srgbClr val="E5DF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5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B1F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CDBFAE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  ·  RESEARCH COMPANY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burns tokens.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8B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substrate is the lever.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2148840"/>
          <a:ext cx="7040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2148840"/>
            <a:ext cx="3886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818120" y="2148840"/>
            <a:ext cx="3886200" cy="8229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01000" y="23317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~40×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800100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output-token growth per query, 24 months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01000" y="3703320"/>
            <a:ext cx="731520" cy="3657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388620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compute is now a first-class scaling axis. The token substrate — shape and count — sets the constant in front of the cost curve.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Larson, Founder &amp; CEO  ·  Jaime Barranca, President  ·  sam@pebbleml.com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UNDER RECONSTRUCTION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Byte-level is mainstream. Where's the lever?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82296" cy="347472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B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BLT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Meta, Dec 2024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discontinued discrete-token Chameleon and shipped BLT — byte-level, tokenizer-free. FAIR's bet on the substrate.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2011680"/>
            <a:ext cx="82296" cy="347472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945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B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46177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baselines, 2024–2025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17720" y="38862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EvaByte, MambaByte, MBLM — all tokenizer-free. Academic community converged on byte-level in 18 months.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011680"/>
            <a:ext cx="35661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38160" y="2011680"/>
            <a:ext cx="82296" cy="347472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945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B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~3.5×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841248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tokens per document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12480" y="38862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byte carries ~1 nat. Subword tokens carry ~3–5. Byte-level means longer sequences, more test-time compute per query, lower info per token.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623560"/>
            <a:ext cx="11109960" cy="640080"/>
          </a:xfrm>
          <a:prstGeom prst="rect">
            <a:avLst/>
          </a:prstGeom>
          <a:solidFill>
            <a:srgbClr val="EFE4D0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562356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Byte-level removes the tokenizer but amplifies the underlying problem. The shape of each token is the open question. Pebble's bet is on one specific answer.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tokens: structure explicit per token.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vector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implicit across examples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20040" cy="457200"/>
          </a:xfrm>
          <a:prstGeom prst="rect">
            <a:avLst/>
          </a:prstGeom>
          <a:solidFill>
            <a:srgbClr val="E4CDBF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320040" cy="457200"/>
          </a:xfrm>
          <a:prstGeom prst="rect">
            <a:avLst/>
          </a:prstGeom>
          <a:solidFill>
            <a:srgbClr val="7C473D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651760"/>
            <a:ext cx="320040" cy="457200"/>
          </a:xfrm>
          <a:prstGeom prst="rect">
            <a:avLst/>
          </a:prstGeom>
          <a:solidFill>
            <a:srgbClr val="EFE1D3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651760"/>
            <a:ext cx="320040" cy="457200"/>
          </a:xfrm>
          <a:prstGeom prst="rect">
            <a:avLst/>
          </a:prstGeom>
          <a:solidFill>
            <a:srgbClr val="B77E6F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2651760"/>
            <a:ext cx="320040" cy="457200"/>
          </a:xfrm>
          <a:prstGeom prst="rect">
            <a:avLst/>
          </a:prstGeom>
          <a:solidFill>
            <a:srgbClr val="CBB4A7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2651760"/>
            <a:ext cx="320040" cy="457200"/>
          </a:xfrm>
          <a:prstGeom prst="rect">
            <a:avLst/>
          </a:prstGeom>
          <a:solidFill>
            <a:srgbClr val="CEA597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651760"/>
            <a:ext cx="320040" cy="457200"/>
          </a:xfrm>
          <a:prstGeom prst="rect">
            <a:avLst/>
          </a:prstGeom>
          <a:solidFill>
            <a:srgbClr val="AB887D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651760"/>
            <a:ext cx="320040" cy="457200"/>
          </a:xfrm>
          <a:prstGeom prst="rect">
            <a:avLst/>
          </a:prstGeom>
          <a:solidFill>
            <a:srgbClr val="AC6A5B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651760"/>
            <a:ext cx="320040" cy="457200"/>
          </a:xfrm>
          <a:prstGeom prst="rect">
            <a:avLst/>
          </a:prstGeom>
          <a:solidFill>
            <a:srgbClr val="FAF5E7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651760"/>
            <a:ext cx="320040" cy="457200"/>
          </a:xfrm>
          <a:prstGeom prst="rect">
            <a:avLst/>
          </a:prstGeom>
          <a:solidFill>
            <a:srgbClr val="EADFD2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2651760"/>
            <a:ext cx="320040" cy="457200"/>
          </a:xfrm>
          <a:prstGeom prst="rect">
            <a:avLst/>
          </a:prstGeom>
          <a:solidFill>
            <a:srgbClr val="D9B9AB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2651760"/>
            <a:ext cx="320040" cy="457200"/>
          </a:xfrm>
          <a:prstGeom prst="rect">
            <a:avLst/>
          </a:prstGeom>
          <a:solidFill>
            <a:srgbClr val="9B7268"/>
          </a:solidFill>
          <a:ln w="6350">
            <a:solidFill>
              <a:srgbClr val="CDBF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[ 0.2, -0.8, 0.1, 0.6, ... 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estimated across many inputs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token (d × 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explicit  ·  rank measured from one embedding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651760"/>
            <a:ext cx="274320" cy="274320"/>
          </a:xfrm>
          <a:prstGeom prst="rect">
            <a:avLst/>
          </a:prstGeom>
          <a:solidFill>
            <a:srgbClr val="F8F2E4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75120" y="2651760"/>
            <a:ext cx="274320" cy="274320"/>
          </a:xfrm>
          <a:prstGeom prst="rect">
            <a:avLst/>
          </a:prstGeom>
          <a:solidFill>
            <a:srgbClr val="DAC9BC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651760"/>
            <a:ext cx="274320" cy="274320"/>
          </a:xfrm>
          <a:prstGeom prst="rect">
            <a:avLst/>
          </a:prstGeom>
          <a:solidFill>
            <a:srgbClr val="BA827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651760"/>
            <a:ext cx="274320" cy="274320"/>
          </a:xfrm>
          <a:prstGeom prst="rect">
            <a:avLst/>
          </a:prstGeom>
          <a:solidFill>
            <a:srgbClr val="C69789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98080" y="2651760"/>
            <a:ext cx="274320" cy="274320"/>
          </a:xfrm>
          <a:prstGeom prst="rect">
            <a:avLst/>
          </a:prstGeom>
          <a:solidFill>
            <a:srgbClr val="B7988C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651760"/>
            <a:ext cx="274320" cy="274320"/>
          </a:xfrm>
          <a:prstGeom prst="rect">
            <a:avLst/>
          </a:prstGeom>
          <a:solidFill>
            <a:srgbClr val="F2EAD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2651760"/>
            <a:ext cx="274320" cy="274320"/>
          </a:xfrm>
          <a:prstGeom prst="rect">
            <a:avLst/>
          </a:prstGeom>
          <a:solidFill>
            <a:srgbClr val="C7998B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2651760"/>
            <a:ext cx="274320" cy="274320"/>
          </a:xfrm>
          <a:prstGeom prst="rect">
            <a:avLst/>
          </a:prstGeom>
          <a:solidFill>
            <a:srgbClr val="D2BEB2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2926080"/>
            <a:ext cx="274320" cy="274320"/>
          </a:xfrm>
          <a:prstGeom prst="rect">
            <a:avLst/>
          </a:prstGeom>
          <a:solidFill>
            <a:srgbClr val="DBBDAF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2926080"/>
            <a:ext cx="274320" cy="274320"/>
          </a:xfrm>
          <a:prstGeom prst="rect">
            <a:avLst/>
          </a:prstGeom>
          <a:solidFill>
            <a:srgbClr val="C3A99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49440" y="2926080"/>
            <a:ext cx="274320" cy="274320"/>
          </a:xfrm>
          <a:prstGeom prst="rect">
            <a:avLst/>
          </a:prstGeom>
          <a:solidFill>
            <a:srgbClr val="F2E7D9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2926080"/>
            <a:ext cx="274320" cy="274320"/>
          </a:xfrm>
          <a:prstGeom prst="rect">
            <a:avLst/>
          </a:prstGeom>
          <a:solidFill>
            <a:srgbClr val="E5D8CB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2926080"/>
            <a:ext cx="274320" cy="274320"/>
          </a:xfrm>
          <a:prstGeom prst="rect">
            <a:avLst/>
          </a:prstGeom>
          <a:solidFill>
            <a:srgbClr val="E2D3C6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0" y="2926080"/>
            <a:ext cx="274320" cy="274320"/>
          </a:xfrm>
          <a:prstGeom prst="rect">
            <a:avLst/>
          </a:prstGeom>
          <a:solidFill>
            <a:srgbClr val="B9807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926080"/>
            <a:ext cx="274320" cy="274320"/>
          </a:xfrm>
          <a:prstGeom prst="rect">
            <a:avLst/>
          </a:prstGeom>
          <a:solidFill>
            <a:srgbClr val="FAF5E7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2926080"/>
            <a:ext cx="274320" cy="274320"/>
          </a:xfrm>
          <a:prstGeom prst="rect">
            <a:avLst/>
          </a:prstGeom>
          <a:solidFill>
            <a:srgbClr val="D1BDB0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3200400"/>
            <a:ext cx="274320" cy="274320"/>
          </a:xfrm>
          <a:prstGeom prst="rect">
            <a:avLst/>
          </a:prstGeom>
          <a:solidFill>
            <a:srgbClr val="E6DACC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3200400"/>
            <a:ext cx="274320" cy="274320"/>
          </a:xfrm>
          <a:prstGeom prst="rect">
            <a:avLst/>
          </a:prstGeom>
          <a:solidFill>
            <a:srgbClr val="C08E7F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3200400"/>
            <a:ext cx="274320" cy="274320"/>
          </a:xfrm>
          <a:prstGeom prst="rect">
            <a:avLst/>
          </a:prstGeom>
          <a:solidFill>
            <a:srgbClr val="D3C0B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3760" y="3200400"/>
            <a:ext cx="274320" cy="274320"/>
          </a:xfrm>
          <a:prstGeom prst="rect">
            <a:avLst/>
          </a:prstGeom>
          <a:solidFill>
            <a:srgbClr val="F9F3E5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3200400"/>
            <a:ext cx="274320" cy="274320"/>
          </a:xfrm>
          <a:prstGeom prst="rect">
            <a:avLst/>
          </a:prstGeom>
          <a:solidFill>
            <a:srgbClr val="C49385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3200400"/>
            <a:ext cx="274320" cy="274320"/>
          </a:xfrm>
          <a:prstGeom prst="rect">
            <a:avLst/>
          </a:prstGeom>
          <a:solidFill>
            <a:srgbClr val="D2BEB2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46720" y="3200400"/>
            <a:ext cx="274320" cy="274320"/>
          </a:xfrm>
          <a:prstGeom prst="rect">
            <a:avLst/>
          </a:prstGeom>
          <a:solidFill>
            <a:srgbClr val="E6DACC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21040" y="3200400"/>
            <a:ext cx="274320" cy="274320"/>
          </a:xfrm>
          <a:prstGeom prst="rect">
            <a:avLst/>
          </a:prstGeom>
          <a:solidFill>
            <a:srgbClr val="C49385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474720"/>
            <a:ext cx="274320" cy="274320"/>
          </a:xfrm>
          <a:prstGeom prst="rect">
            <a:avLst/>
          </a:prstGeom>
          <a:solidFill>
            <a:srgbClr val="DDCDC0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0" y="3474720"/>
            <a:ext cx="274320" cy="274320"/>
          </a:xfrm>
          <a:prstGeom prst="rect">
            <a:avLst/>
          </a:prstGeom>
          <a:solidFill>
            <a:srgbClr val="ECDBC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49440" y="3474720"/>
            <a:ext cx="274320" cy="274320"/>
          </a:xfrm>
          <a:prstGeom prst="rect">
            <a:avLst/>
          </a:prstGeom>
          <a:solidFill>
            <a:srgbClr val="DCBFB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23760" y="3474720"/>
            <a:ext cx="274320" cy="274320"/>
          </a:xfrm>
          <a:prstGeom prst="rect">
            <a:avLst/>
          </a:prstGeom>
          <a:solidFill>
            <a:srgbClr val="BC8677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98080" y="3474720"/>
            <a:ext cx="274320" cy="274320"/>
          </a:xfrm>
          <a:prstGeom prst="rect">
            <a:avLst/>
          </a:prstGeom>
          <a:solidFill>
            <a:srgbClr val="EBE0D2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0" y="3474720"/>
            <a:ext cx="274320" cy="274320"/>
          </a:xfrm>
          <a:prstGeom prst="rect">
            <a:avLst/>
          </a:prstGeom>
          <a:solidFill>
            <a:srgbClr val="D8C6B9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46720" y="3474720"/>
            <a:ext cx="274320" cy="274320"/>
          </a:xfrm>
          <a:prstGeom prst="rect">
            <a:avLst/>
          </a:prstGeom>
          <a:solidFill>
            <a:srgbClr val="D4B1A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3474720"/>
            <a:ext cx="274320" cy="274320"/>
          </a:xfrm>
          <a:prstGeom prst="rect">
            <a:avLst/>
          </a:prstGeom>
          <a:solidFill>
            <a:srgbClr val="F0E3D5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00800" y="3749040"/>
            <a:ext cx="274320" cy="274320"/>
          </a:xfrm>
          <a:prstGeom prst="rect">
            <a:avLst/>
          </a:prstGeom>
          <a:solidFill>
            <a:srgbClr val="DBBDAF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75120" y="3749040"/>
            <a:ext cx="274320" cy="274320"/>
          </a:xfrm>
          <a:prstGeom prst="rect">
            <a:avLst/>
          </a:prstGeom>
          <a:solidFill>
            <a:srgbClr val="E3D5C8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9440" y="3749040"/>
            <a:ext cx="274320" cy="274320"/>
          </a:xfrm>
          <a:prstGeom prst="rect">
            <a:avLst/>
          </a:prstGeom>
          <a:solidFill>
            <a:srgbClr val="E9DED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23760" y="3749040"/>
            <a:ext cx="274320" cy="274320"/>
          </a:xfrm>
          <a:prstGeom prst="rect">
            <a:avLst/>
          </a:prstGeom>
          <a:solidFill>
            <a:srgbClr val="EFE1D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0" y="3749040"/>
            <a:ext cx="274320" cy="274320"/>
          </a:xfrm>
          <a:prstGeom prst="rect">
            <a:avLst/>
          </a:prstGeom>
          <a:solidFill>
            <a:srgbClr val="EFE1D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3749040"/>
            <a:ext cx="274320" cy="274320"/>
          </a:xfrm>
          <a:prstGeom prst="rect">
            <a:avLst/>
          </a:prstGeom>
          <a:solidFill>
            <a:srgbClr val="BF8C7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046720" y="3749040"/>
            <a:ext cx="274320" cy="274320"/>
          </a:xfrm>
          <a:prstGeom prst="rect">
            <a:avLst/>
          </a:prstGeom>
          <a:solidFill>
            <a:srgbClr val="F6EDDF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321040" y="3749040"/>
            <a:ext cx="274320" cy="274320"/>
          </a:xfrm>
          <a:prstGeom prst="rect">
            <a:avLst/>
          </a:prstGeom>
          <a:solidFill>
            <a:srgbClr val="F9F3E6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0" y="4023360"/>
            <a:ext cx="274320" cy="274320"/>
          </a:xfrm>
          <a:prstGeom prst="rect">
            <a:avLst/>
          </a:prstGeom>
          <a:solidFill>
            <a:srgbClr val="F4EBD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75120" y="4023360"/>
            <a:ext cx="274320" cy="274320"/>
          </a:xfrm>
          <a:prstGeom prst="rect">
            <a:avLst/>
          </a:prstGeom>
          <a:solidFill>
            <a:srgbClr val="DCCCBF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49440" y="4023360"/>
            <a:ext cx="274320" cy="274320"/>
          </a:xfrm>
          <a:prstGeom prst="rect">
            <a:avLst/>
          </a:prstGeom>
          <a:solidFill>
            <a:srgbClr val="D0A99B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23760" y="4023360"/>
            <a:ext cx="274320" cy="274320"/>
          </a:xfrm>
          <a:prstGeom prst="rect">
            <a:avLst/>
          </a:prstGeom>
          <a:solidFill>
            <a:srgbClr val="D0A99B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98080" y="4023360"/>
            <a:ext cx="274320" cy="274320"/>
          </a:xfrm>
          <a:prstGeom prst="rect">
            <a:avLst/>
          </a:prstGeom>
          <a:solidFill>
            <a:srgbClr val="CDB6AA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2400" y="4023360"/>
            <a:ext cx="274320" cy="274320"/>
          </a:xfrm>
          <a:prstGeom prst="rect">
            <a:avLst/>
          </a:prstGeom>
          <a:solidFill>
            <a:srgbClr val="EFE1D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46720" y="4023360"/>
            <a:ext cx="274320" cy="274320"/>
          </a:xfrm>
          <a:prstGeom prst="rect">
            <a:avLst/>
          </a:prstGeom>
          <a:solidFill>
            <a:srgbClr val="D3AFA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21040" y="4023360"/>
            <a:ext cx="274320" cy="274320"/>
          </a:xfrm>
          <a:prstGeom prst="rect">
            <a:avLst/>
          </a:prstGeom>
          <a:solidFill>
            <a:srgbClr val="DDCDC0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0" y="4297680"/>
            <a:ext cx="274320" cy="274320"/>
          </a:xfrm>
          <a:prstGeom prst="rect">
            <a:avLst/>
          </a:prstGeom>
          <a:solidFill>
            <a:srgbClr val="E8D5C7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75120" y="4297680"/>
            <a:ext cx="274320" cy="274320"/>
          </a:xfrm>
          <a:prstGeom prst="rect">
            <a:avLst/>
          </a:prstGeom>
          <a:solidFill>
            <a:srgbClr val="B0706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949440" y="4297680"/>
            <a:ext cx="274320" cy="274320"/>
          </a:xfrm>
          <a:prstGeom prst="rect">
            <a:avLst/>
          </a:prstGeom>
          <a:solidFill>
            <a:srgbClr val="CEB8AC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23760" y="4297680"/>
            <a:ext cx="274320" cy="274320"/>
          </a:xfrm>
          <a:prstGeom prst="rect">
            <a:avLst/>
          </a:prstGeom>
          <a:solidFill>
            <a:srgbClr val="F9F3E6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98080" y="4297680"/>
            <a:ext cx="274320" cy="274320"/>
          </a:xfrm>
          <a:prstGeom prst="rect">
            <a:avLst/>
          </a:prstGeom>
          <a:solidFill>
            <a:srgbClr val="C89B8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72400" y="4297680"/>
            <a:ext cx="274320" cy="274320"/>
          </a:xfrm>
          <a:prstGeom prst="rect">
            <a:avLst/>
          </a:prstGeom>
          <a:solidFill>
            <a:srgbClr val="C4AA9E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46720" y="4297680"/>
            <a:ext cx="274320" cy="274320"/>
          </a:xfrm>
          <a:prstGeom prst="rect">
            <a:avLst/>
          </a:prstGeom>
          <a:solidFill>
            <a:srgbClr val="E4D6C9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321040" y="4297680"/>
            <a:ext cx="274320" cy="274320"/>
          </a:xfrm>
          <a:prstGeom prst="rect">
            <a:avLst/>
          </a:prstGeom>
          <a:solidFill>
            <a:srgbClr val="BE8A7B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00800" y="4572000"/>
            <a:ext cx="274320" cy="274320"/>
          </a:xfrm>
          <a:prstGeom prst="rect">
            <a:avLst/>
          </a:prstGeom>
          <a:solidFill>
            <a:srgbClr val="C3928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75120" y="4572000"/>
            <a:ext cx="274320" cy="274320"/>
          </a:xfrm>
          <a:prstGeom prst="rect">
            <a:avLst/>
          </a:prstGeom>
          <a:solidFill>
            <a:srgbClr val="DCCCBF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4572000"/>
            <a:ext cx="274320" cy="274320"/>
          </a:xfrm>
          <a:prstGeom prst="rect">
            <a:avLst/>
          </a:prstGeom>
          <a:solidFill>
            <a:srgbClr val="F8F2E4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4572000"/>
            <a:ext cx="274320" cy="274320"/>
          </a:xfrm>
          <a:prstGeom prst="rect">
            <a:avLst/>
          </a:prstGeom>
          <a:solidFill>
            <a:srgbClr val="F2EADD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98080" y="4572000"/>
            <a:ext cx="274320" cy="274320"/>
          </a:xfrm>
          <a:prstGeom prst="rect">
            <a:avLst/>
          </a:prstGeom>
          <a:solidFill>
            <a:srgbClr val="E9DED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72400" y="4572000"/>
            <a:ext cx="274320" cy="274320"/>
          </a:xfrm>
          <a:prstGeom prst="rect">
            <a:avLst/>
          </a:prstGeom>
          <a:solidFill>
            <a:srgbClr val="CA9F91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46720" y="4572000"/>
            <a:ext cx="274320" cy="274320"/>
          </a:xfrm>
          <a:prstGeom prst="rect">
            <a:avLst/>
          </a:prstGeom>
          <a:solidFill>
            <a:srgbClr val="F8F1E3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21040" y="4572000"/>
            <a:ext cx="274320" cy="274320"/>
          </a:xfrm>
          <a:prstGeom prst="rect">
            <a:avLst/>
          </a:prstGeom>
          <a:solidFill>
            <a:srgbClr val="E4D6C9"/>
          </a:solidFill>
          <a:ln w="5080">
            <a:solidFill>
              <a:srgbClr val="CDBFA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0800" y="4983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⊗ v  +  u' ⊗ v'  +  u'' ⊗ v''  + ...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640080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of rank-1 outer products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548640" y="5806440"/>
            <a:ext cx="11109960" cy="548640"/>
          </a:xfrm>
          <a:prstGeom prst="rect">
            <a:avLst/>
          </a:prstGeom>
          <a:solidFill>
            <a:srgbClr val="EFE4D0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85800" y="58338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parameters, d=16 matrix layer vs d=256 attention layer: ~2K vs ~262K (~130× lower, structural). Working models use both matrix and non-matrix layers.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VALIDATED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Per-layer efficiency is real. Quality signal is positive.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per layer at matched dimension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d=16 vs standard attention d=256. Structural.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251460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ProsQA accuracy (3-seed mean)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positive direction, 3 seeds.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400800" y="2514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solidFill>
            <a:srgbClr val="EFE4D0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5852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efficiency is structural. The quality signal is early — the real test is a matrix-native architecture end-to-end. That's Chapter 2.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COMPLETE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Bolt-on architecture hides the structure. We know why.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1323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828800"/>
            <a:ext cx="3794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09560" y="1828800"/>
            <a:ext cx="3794760" cy="8229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2011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92440" y="23317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GSM8K γ=1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−0.023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83564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p=.519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2624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ProsQA γ=1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966960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35640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p=.558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92440" y="2916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R3a ProsQA γ=0 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966960" y="2916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−0.105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835640" y="2916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p=.018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92440" y="3209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R3b ProsQA γ=0 off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966960" y="3209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+0.095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835640" y="3209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p=.034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092440" y="3566160"/>
            <a:ext cx="3474720" cy="18288"/>
          </a:xfrm>
          <a:prstGeom prst="rect">
            <a:avLst/>
          </a:prstGeom>
          <a:solidFill>
            <a:srgbClr val="CDBFAE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9244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(n=1)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9244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bilinear+GELU readout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924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2E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−0.13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966960" y="4233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0.14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092440" y="4572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at α=.05. First of five planned controls.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092440" y="5166360"/>
            <a:ext cx="3474720" cy="18288"/>
          </a:xfrm>
          <a:prstGeom prst="rect">
            <a:avLst/>
          </a:prstGeom>
          <a:solidFill>
            <a:srgbClr val="CDBFAE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92440" y="5230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3-seed flatten replication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092440" y="5486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81.5 ± 1.2pp  ·  Z_rank varies 3× (4, 12, 13)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5925312"/>
            <a:ext cx="11109960" cy="429768"/>
          </a:xfrm>
          <a:prstGeom prst="rect">
            <a:avLst/>
          </a:prstGeom>
          <a:solidFill>
            <a:srgbClr val="EFE4D0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5800" y="5925312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flatten readout destroys the gradient path through rank. Four flat rank-k curves; every nonlinear control we tried replicates the pattern. Fix: go matrix-native end-to-end.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Matrix-native architecture. This is where the upside lives.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5895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589520" cy="4572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653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SPEC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8653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Matrix-native transformer on synthetic rank-K task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245059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d×d matrix tokens throughout. No vector pretraining, no CODI distillation, no flatten readout. Matrix attention (Frobenius inner product), matrix MLP preserving row/column structure, MultiProbeHead output. ~5–10M params.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336499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K-parallel entity tracking (Task A). Optimal solution provably rank-K. Task generator passes self-tests in chapter2/synthetic_tasks.py. Two additional tasks scoped.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71800" y="4233672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if |Spearman r| &gt; 0.3, p &lt; 0.01, across 3 seeds, on ≥2 of 3 tasks.  Fail if |r| &lt; 0.15 across all tasks.  Mixed → task-structure investigation. Fail → pivot to byte-level JEPA.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5303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71800" y="52852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 H100-hours including ablations. Single decision point.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1828800"/>
            <a:ext cx="3337560" cy="4297680"/>
          </a:xfrm>
          <a:prstGeom prst="rect">
            <a:avLst/>
          </a:prstGeom>
          <a:solidFill>
            <a:srgbClr val="5C1B13"/>
          </a:solidFill>
          <a:ln w="12700">
            <a:solidFill>
              <a:srgbClr val="5C1B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2011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8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49640" y="23774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5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|r| &gt; 0.3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54964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5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&lt; 0.01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8549640" y="3840480"/>
            <a:ext cx="1371600" cy="27432"/>
          </a:xfrm>
          <a:prstGeom prst="rect">
            <a:avLst/>
          </a:prstGeom>
          <a:solidFill>
            <a:srgbClr val="B8894A"/>
          </a:solidFill>
          <a:ln w="12700">
            <a:solidFill>
              <a:srgbClr val="B889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3977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49640" y="43434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of 3 tasks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49640" y="5303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yes / no.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9640" y="5623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Tightens CHAPTER_2_DESIGN.md.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SUBSTRATE UNLOCKS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concrete directions for productizing the research.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8229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Byte-level multimodal.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1272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bGPT left open.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456432"/>
            <a:ext cx="822960" cy="18288"/>
          </a:xfrm>
          <a:prstGeom prst="rect">
            <a:avLst/>
          </a:prstGeom>
          <a:solidFill>
            <a:srgbClr val="CDBFAE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584448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bGPT trained on text + images + audio from raw bytes. Negative transfer between text and non-text. Flat-vector bytes can't encode 2D spatial layout; matrix rows and columns can, without special position codes. Nobody has combined byte-level + matrix + multi-domain.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25112" y="1828800"/>
            <a:ext cx="3611880" cy="8229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031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specialized models.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9432" y="31272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efficiency, productized.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99432" y="3456432"/>
            <a:ext cx="822960" cy="18288"/>
          </a:xfrm>
          <a:prstGeom prst="rect">
            <a:avLst/>
          </a:prstGeom>
          <a:solidFill>
            <a:srgbClr val="CDBFAE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99432" y="3584448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130× fewer parameters per matrix layer at matched width. The path: smaller models that reason better per token — deployable as APIs for domains where inference cost is the bottleneck. Code, math, interp tooling.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01584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01584" y="1828800"/>
            <a:ext cx="3611880" cy="8229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1031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75904" y="2743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as an interp primitive.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75904" y="31272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estimated.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375904" y="3456432"/>
            <a:ext cx="822960" cy="18288"/>
          </a:xfrm>
          <a:prstGeom prst="rect">
            <a:avLst/>
          </a:prstGeom>
          <a:solidFill>
            <a:srgbClr val="CDBFAE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375904" y="3584448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is a structural property of a matrix token. Most interp programs estimate it across ensembles — we compute it per sample. A substrate-level observable that unlocks new probes, metrics, and experiments for labs that buy interpretability.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6217920"/>
            <a:ext cx="11109960" cy="228600"/>
          </a:xfrm>
          <a:prstGeom prst="rect">
            <a:avLst/>
          </a:prstGeom>
          <a:solidFill>
            <a:srgbClr val="EFE4D0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5800" y="6199632"/>
            <a:ext cx="10835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research platform, three revenue lines. All of it runs on the compute you're already amortizing.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billion-param programs are betting on architecture. We're betting on substrate.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10312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FAF5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FAF5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OF THE BET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FAF5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300" kern="0" dirty="0">
                          <a:solidFill>
                            <a:srgbClr val="FAF5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1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(NeurIPS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(hyperbolic)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Billion-param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proven. Published.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JEPA / AMI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(predictive SSL)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Billion-scale in flight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~$1B raised, Feb 2026.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 (Gu et al.)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model (SSM)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VC-backed, commercial track.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CRATE (Yi 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(white-box)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Research-scale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program.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Pebble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 (matrix 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288K — 355M →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E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published diagnostic on the substrate layer. ICML MI Workshop paper shipping.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BF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1109960" cy="777240"/>
          </a:xfrm>
          <a:prstGeom prst="rect">
            <a:avLst/>
          </a:prstGeom>
          <a:solidFill>
            <a:srgbClr val="5C1B13"/>
          </a:solidFill>
          <a:ln w="12700">
            <a:solidFill>
              <a:srgbClr val="5C1B1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5321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above picked a layer above the token. Pebble is one layer deeper. New infrastructure gets built at the substrate — CUDA, PyTorch, Transformers all won by being the right shape underneath. That's the position we're taking.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research program that runs itself.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harness. Grabs a GPU. Runs all day. Compounds learnings.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8790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73152" cy="8686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93976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441448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agent-refilled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4834" y="227228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29154" y="1965960"/>
            <a:ext cx="198790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29154" y="1965960"/>
            <a:ext cx="73152" cy="8686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93746" y="2093976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93746" y="2441448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agent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47" y="227228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09667" y="1965960"/>
            <a:ext cx="198790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09667" y="1965960"/>
            <a:ext cx="73152" cy="8686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74259" y="2093976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274259" y="2441448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 available GPU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61" y="2272284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390181" y="1965960"/>
            <a:ext cx="198790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90181" y="1965960"/>
            <a:ext cx="73152" cy="8686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554773" y="2093976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554773" y="2441448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→ SQLite</a:t>
            </a:r>
            <a:endParaRPr lang="en-US" sz="1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374" y="2272284"/>
            <a:ext cx="256032" cy="25603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670694" y="1965960"/>
            <a:ext cx="1987906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670694" y="1965960"/>
            <a:ext cx="73152" cy="8686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835286" y="2093976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835286" y="2441448"/>
            <a:ext cx="17318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auto-inject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48640" y="288036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Preemption-recovering. Wakeup-chain scheduled. No human in the inner loop.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48640" y="3291840"/>
            <a:ext cx="54406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3291840"/>
            <a:ext cx="5440680" cy="4114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77240" y="33375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7240" y="38404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Substrate research, in-house.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77240" y="42245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 behind the workshop paper and Chapter 2.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777240" y="4572000"/>
            <a:ext cx="457200" cy="18288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777240" y="46634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candidates go through pre-experiment checklist (hypothesis, FLOPs, prior-art scan) before compute is spent.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DB (SQLite + FTS5) auto-injects relevant prior rules into every new prompt. Mistakes stop repeating.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 chain schedules next run before GPU would idle — no wasted minutes between experiments.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217920" y="3291840"/>
            <a:ext cx="54406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217920" y="3291840"/>
            <a:ext cx="5440680" cy="41148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446520" y="33375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446520" y="38404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Research-as-a-service.</a:t>
            </a:r>
            <a:endParaRPr lang="en-US" sz="1500" dirty="0"/>
          </a:p>
        </p:txBody>
      </p:sp>
      <p:sp>
        <p:nvSpPr>
          <p:cNvPr id="42" name="Text 36"/>
          <p:cNvSpPr/>
          <p:nvPr/>
        </p:nvSpPr>
        <p:spPr>
          <a:xfrm>
            <a:off x="6446520" y="42245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platform. Any ML research workload.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446520" y="4572000"/>
            <a:ext cx="457200" cy="18288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446520" y="466344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defines the question; the harness runs the search across small-scale experiments on whatever GPU is cheapest.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Audit-then-run pipeline is domain-agnostic — applies equally to a customer's architecture search as to our own.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Goodfire-style research contracts are the near-term revenue line. Platform scales horizontally with GPU supply.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0" y="6199632"/>
            <a:ext cx="12191695" cy="228600"/>
          </a:xfrm>
          <a:prstGeom prst="rect">
            <a:avLst/>
          </a:prstGeom>
          <a:solidFill>
            <a:srgbClr val="5C1B13"/>
          </a:solidFill>
          <a:ln w="12700">
            <a:solidFill>
              <a:srgbClr val="5C1B13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02920" y="619963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labs are humans at terminals. We built the research platform first — and it already ships papers.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  ·  ASK  · 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paths. Compute-aligned ask. Small team.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4572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65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Research-as-a-service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near-term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architecture-search and interp studies on the harness. Goodfire is the closest comparable.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703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capability APIs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959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medium-term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3367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winning Chapter 2/3 architecture as a narrow API — code, math, or interp-primitive workloads on cheaper inference.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+ acquihire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193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optionality floor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46811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Novel-architecture IP on the frontier labs' silicon. Adept → Amazon, Inflection → MS, Character → Google (2024) set the comps.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25112" y="182880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828800"/>
            <a:ext cx="3611880" cy="4572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1865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7992" y="2468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Inception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07992" y="2724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~135 H100-hrs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07992" y="29992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across 12 months. Researcher-network access. DLI credits if available.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07992" y="37033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credits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07992" y="39593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 – 100K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07992" y="423367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Google / Azure for storage, egress, non-H100 work.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07992" y="4937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advisors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07992" y="51937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– 3 warm intros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7992" y="546811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PhD-level, reasoning or interp background.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1828800"/>
            <a:ext cx="36118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BF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1584" y="1828800"/>
            <a:ext cx="3611880" cy="4572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1865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AF5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84464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Larson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84464" y="27614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research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84464" y="303580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matrix-thinking research program and the autonomous harness behind it. Author of the ICML MI Workshop 2026 paper on substrate-layer diagnostics. Sets the research agenda and operates the lab.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84464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Jaime Barranca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84464" y="4727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 ·  venture, strategy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84464" y="5001768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Venture-capital background. Drives business strategy, capital formation, and the partner network that converts substrate research into infrastructure.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pebbleml.com  ·  April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73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114800" cy="2743200"/>
          </a:xfrm>
          <a:prstGeom prst="ellipse">
            <a:avLst/>
          </a:prstGeom>
          <a:solidFill>
            <a:srgbClr val="EFE4D0"/>
          </a:solidFill>
          <a:ln w="12700">
            <a:solidFill>
              <a:srgbClr val="EFE4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914400"/>
            <a:ext cx="3657600" cy="2560320"/>
          </a:xfrm>
          <a:prstGeom prst="ellipse">
            <a:avLst/>
          </a:prstGeom>
          <a:solidFill>
            <a:srgbClr val="EFE4D0"/>
          </a:solidFill>
          <a:ln w="12700">
            <a:solidFill>
              <a:srgbClr val="EFE4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PEBBLE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560320"/>
            <a:ext cx="1161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2B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research program that compounds.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3429000"/>
            <a:ext cx="11612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i="1" dirty="0">
                <a:solidFill>
                  <a:srgbClr val="8B2E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find the next architecture.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486400" y="4754880"/>
            <a:ext cx="1188720" cy="36576"/>
          </a:xfrm>
          <a:prstGeom prst="rect">
            <a:avLst/>
          </a:prstGeom>
          <a:solidFill>
            <a:srgbClr val="8B2E1F"/>
          </a:solidFill>
          <a:ln w="12700">
            <a:solidFill>
              <a:srgbClr val="8B2E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paper May 8.  Chapter 2 next.  Machinery already running.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B2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sam@pebbleml.com  ·  pebbleml.com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Pebble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Pebble AI — Pitch Deck v3</dc:title>
  <dc:subject>Matrix-valued representations for machine reasoning</dc:subject>
  <dc:creator>Pebble AI</dc:creator>
  <cp:lastModifiedBy>Pebble AI</cp:lastModifiedBy>
  <cp:revision>1</cp:revision>
  <dcterms:created xsi:type="dcterms:W3CDTF">2026-04-22T22:19:12Z</dcterms:created>
  <dcterms:modified xsi:type="dcterms:W3CDTF">2026-04-22T22:19:12Z</dcterms:modified>
</cp:coreProperties>
</file>